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 (K)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7B7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Y2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18</c:v>
                </c:pt>
                <c:pt idx="3">
                  <c:v>42</c:v>
                </c:pt>
                <c:pt idx="4">
                  <c:v>100</c:v>
                </c:pt>
                <c:pt idx="5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7B7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B5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822960"/>
            <a:ext cx="2743200" cy="2743200"/>
          </a:xfrm>
          <a:prstGeom prst="ellipse">
            <a:avLst/>
          </a:prstGeom>
          <a:solidFill>
            <a:srgbClr val="00C2A8">
              <a:alpha val="25000"/>
            </a:srgbClr>
          </a:solidFill>
          <a:ln w="12700">
            <a:solidFill>
              <a:srgbClr val="00C2A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WordFlow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Better. Read Faster. Present Confidently.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Cognitive Training &amp; Communication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1645920" cy="45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Practice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SEED ROUND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“Meet Priya.”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a talented software engineer — smart, capable, ready to lead.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time a big presentation arrives, she freezes.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379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stumbles over words, rushes through slides, fills silence with ‘um’ and ‘uh’.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311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ideas are brilliant. Her delivery is holding her back.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is not alone. 75% of people fear public speaking more than death.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communication training is expensive, inaccessible, or just boring.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10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WordFlow AI was built for Priya — and the 2 billion people just like her.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320040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18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 is your most powerful tool — WordFlow helps you master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are broken — and underserved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6459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fear public speaking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#1 phobia globally, affecting careers and confidence every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16459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64008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13533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reading speed: 200 WPM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1847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read at 400-600 WPM — a 2–3× productivity gap.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60520" cy="16459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64008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costs $100–$400/hour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37216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 coaches are accessible only to the privileged few.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160520" cy="16459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63240"/>
            <a:ext cx="64008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😴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40680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are boring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92040" y="372160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feedback, no gamification, no real engagement loop.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owns the end-to-end communication training journey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005840"/>
                <a:gridCol w="960120"/>
                <a:gridCol w="1097280"/>
                <a:gridCol w="14630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DA4B8"/>
                          </a:solidFill>
                        </a:rPr>
                        <a:t>Toastmasters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DA4B8"/>
                          </a:solidFill>
                        </a:rPr>
                        <a:t>Coursera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DA4B8"/>
                          </a:solidFill>
                        </a:rPr>
                        <a:t>Speeko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DA4B8"/>
                          </a:solidFill>
                        </a:rPr>
                        <a:t>Duolingo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WordFlow AI 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A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DA4B8"/>
                          </a:solidFill>
                        </a:rPr>
                        <a:t>Speed Reading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DA4B8"/>
                          </a:solidFill>
                        </a:rPr>
                        <a:t>Speech Analysis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B731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DA4B8"/>
                          </a:solidFill>
                        </a:rPr>
                        <a:t>AI Coaching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DA4B8"/>
                          </a:solidFill>
                        </a:rPr>
                        <a:t>Presentation Rehearsal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DA4B8"/>
                          </a:solidFill>
                        </a:rPr>
                        <a:t>Gamification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B731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DA4B8"/>
                          </a:solidFill>
                        </a:rPr>
                        <a:t>Affordable (&lt;$20/mo)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2A8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WordFlow AI is the ONLY platform that combines all 5 pillars of communication mastery.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dimension of communication.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0C2A8">
              <a:alpha val="1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world's most engaging, data-driven communication training platform — making elite coaching accessible to anyone with a smartphone.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560320" cy="2423160"/>
          </a:xfrm>
          <a:prstGeom prst="rect">
            <a:avLst/>
          </a:prstGeom>
          <a:solidFill>
            <a:srgbClr val="243B55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deeper comprehension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560320" cy="2423160"/>
          </a:xfrm>
          <a:prstGeom prst="rect">
            <a:avLst/>
          </a:prstGeom>
          <a:solidFill>
            <a:srgbClr val="243B55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🎙️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clarity and confidence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560320" cy="2423160"/>
          </a:xfrm>
          <a:prstGeom prst="rect">
            <a:avLst/>
          </a:prstGeom>
          <a:solidFill>
            <a:srgbClr val="243B55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Persuade any audience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· Built for Habit · Designed for Results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interlocking systems designed for mastery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7432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Word Streaming Engine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" y="1691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RSVP-style speed reading with adjustable WPM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188720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88720"/>
            <a:ext cx="2743200" cy="5029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Speech Analysis 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82696" y="1691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· Pace · Filler words · Clarity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17336" y="1188720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1188720"/>
            <a:ext cx="27432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Feedback Coach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27064" y="1691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post-session improvement suggestions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50592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450592"/>
            <a:ext cx="2743200" cy="5029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5420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Focus Mode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" y="2953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music + immersive environment for deep 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450592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450592"/>
            <a:ext cx="27432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25420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Themed Word Packs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82696" y="2953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· Military · Tech · Startup · Daily Life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17336" y="2450592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2450592"/>
            <a:ext cx="2743200" cy="5029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5420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27064" y="29535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· XP Levels · Leaderboards · Daily Challenges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712464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712464"/>
            <a:ext cx="2743200" cy="5029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803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Habit Formation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" y="4215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 &amp; behavioral reinforcement loops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72968" y="3712464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72968" y="3712464"/>
            <a:ext cx="2743200" cy="5029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803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Dashboard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82696" y="4215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speed, quality, consistency over time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17336" y="3712464"/>
            <a:ext cx="2743200" cy="1115568"/>
          </a:xfrm>
          <a:prstGeom prst="rect">
            <a:avLst/>
          </a:prstGeom>
          <a:solidFill>
            <a:srgbClr val="243B55"/>
          </a:solidFill>
          <a:ln w="1016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17336" y="3712464"/>
            <a:ext cx="2743200" cy="502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38039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Presentation Mode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27064" y="4215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PPT/PDF — rehearse &amp; get AI delivery coaching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Rehearsal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Flagship Feature — The most powerful slide in this deck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" y="1618488"/>
            <a:ext cx="36576" cy="274320"/>
          </a:xfrm>
          <a:prstGeom prst="rect">
            <a:avLst/>
          </a:prstGeom>
          <a:solidFill>
            <a:srgbClr val="00C2A8">
              <a:alpha val="50000"/>
            </a:srgbClr>
          </a:solidFill>
          <a:ln w="12700">
            <a:solidFill>
              <a:srgbClr val="00C2A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1795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PPT or PDF slide deck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" y="2368296"/>
            <a:ext cx="36576" cy="274320"/>
          </a:xfrm>
          <a:prstGeom prst="rect">
            <a:avLst/>
          </a:prstGeom>
          <a:solidFill>
            <a:srgbClr val="00C2A8">
              <a:alpha val="50000"/>
            </a:srgbClr>
          </a:solidFill>
          <a:ln w="12700">
            <a:solidFill>
              <a:srgbClr val="00C2A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929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extracts &amp; displays each slide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642616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9496" y="3118104"/>
            <a:ext cx="36576" cy="274320"/>
          </a:xfrm>
          <a:prstGeom prst="rect">
            <a:avLst/>
          </a:prstGeom>
          <a:solidFill>
            <a:srgbClr val="00C2A8">
              <a:alpha val="50000"/>
            </a:srgbClr>
          </a:solidFill>
          <a:ln w="12700">
            <a:solidFill>
              <a:srgbClr val="00C2A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6791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 through each slide naturally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" y="3867912"/>
            <a:ext cx="36576" cy="274320"/>
          </a:xfrm>
          <a:prstGeom prst="rect">
            <a:avLst/>
          </a:prstGeom>
          <a:solidFill>
            <a:srgbClr val="00C2A8">
              <a:alpha val="50000"/>
            </a:srgbClr>
          </a:solidFill>
          <a:ln w="12700">
            <a:solidFill>
              <a:srgbClr val="00C2A8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29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delivery in real-time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142232"/>
            <a:ext cx="475488" cy="47548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1788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actionable coaching suggestions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212080" y="1115568"/>
            <a:ext cx="3566160" cy="3566160"/>
          </a:xfrm>
          <a:prstGeom prst="rect">
            <a:avLst/>
          </a:prstGeom>
          <a:solidFill>
            <a:srgbClr val="243B55"/>
          </a:solidFill>
          <a:ln w="1905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What AI Detects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Filler words (um, uh, like, you know)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212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Speaking pace &amp; pacing rhythm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6883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Long pauses &amp; dead silence gaps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31638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Confidence &amp; vocal clarity score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Per-slide performance breakdown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4114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AI suggestions to improve each slide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6634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 alone unlocks the $1.2B corporate training market.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scalable, modular by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868680"/>
          </a:xfrm>
          <a:prstGeom prst="rect">
            <a:avLst/>
          </a:prstGeom>
          <a:solidFill>
            <a:srgbClr val="243B55"/>
          </a:solidFill>
          <a:ln w="1524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463040" cy="868680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28016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(Web)   ·   React Native / PWA (Mobile)   ·   Tailwind CSS + shadcn/ui   ·   Real-time WebSockets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868680"/>
          </a:xfrm>
          <a:prstGeom prst="rect">
            <a:avLst/>
          </a:prstGeom>
          <a:solidFill>
            <a:srgbClr val="243B55"/>
          </a:solidFill>
          <a:ln w="1524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1463040" cy="868680"/>
          </a:xfrm>
          <a:prstGeom prst="rect">
            <a:avLst/>
          </a:prstGeom>
          <a:solidFill>
            <a:srgbClr val="F7B731">
              <a:alpha val="85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945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SERVICES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 + PostgreSQL + Storage)   ·   Edge Functions (Serverless)   ·   REST + Realtime APIs   ·   PPT/PDF Parser (pdf.js + pptx lib)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595360" cy="868680"/>
          </a:xfrm>
          <a:prstGeom prst="rect">
            <a:avLst/>
          </a:prstGeom>
          <a:solidFill>
            <a:srgbClr val="243B55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46120"/>
            <a:ext cx="1463040" cy="868680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461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33832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Analysis Model (Whisper + Custom NLP)   ·   NLP for Filler Word Detection   ·   LLM Feedback Engine (Claude / GPT-4)   ·   Speed Reading Analytics Pipeline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45720" cy="137160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3063240"/>
            <a:ext cx="45720" cy="137160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INFRASTRUCTURE:   Vercel (Frontend CDN)   ·   Supabase Cloud   ·   AWS S3 (Media Storage)   ·   Cloudflare (Security &amp; CDN)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Deep 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personalized by machine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60520" cy="1188720"/>
          </a:xfrm>
          <a:prstGeom prst="rect">
            <a:avLst/>
          </a:prstGeom>
          <a:solidFill>
            <a:srgbClr val="243B55"/>
          </a:solidFill>
          <a:ln w="1016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64008" cy="1188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+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OpenAI Whisper / Deepgram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transcription, phoneme-level pronunciation scoring, and WPM calculation.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160520" cy="1188720"/>
          </a:xfrm>
          <a:prstGeom prst="rect">
            <a:avLst/>
          </a:prstGeom>
          <a:solidFill>
            <a:srgbClr val="243B55"/>
          </a:solidFill>
          <a:ln w="1016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64008" cy="1188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Word Detection NLP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Fine-tuned NLP Classifier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um, uh, like, basically, you know — with frequency and pattern analysis.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468880"/>
            <a:ext cx="4160520" cy="1188720"/>
          </a:xfrm>
          <a:prstGeom prst="rect">
            <a:avLst/>
          </a:prstGeom>
          <a:solidFill>
            <a:srgbClr val="243B55"/>
          </a:solidFill>
          <a:ln w="1016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68880"/>
            <a:ext cx="64008" cy="1188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Clarity Scorer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Prosody Analysis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vocal energy, monotone risk, clarity, and pacing through audio signal processing.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160520" cy="1188720"/>
          </a:xfrm>
          <a:prstGeom prst="rect">
            <a:avLst/>
          </a:prstGeom>
          <a:solidFill>
            <a:srgbClr val="243B55"/>
          </a:solidFill>
          <a:ln w="1016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68880"/>
            <a:ext cx="64008" cy="1188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Coach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LLM (Claude / GPT-4)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natural language, actionable coaching based on full session performance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794760"/>
            <a:ext cx="4160520" cy="1188720"/>
          </a:xfrm>
          <a:prstGeom prst="rect">
            <a:avLst/>
          </a:prstGeom>
          <a:solidFill>
            <a:srgbClr val="243B55"/>
          </a:solidFill>
          <a:ln w="1016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794760"/>
            <a:ext cx="64008" cy="1188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Speed Analytics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1480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Proprietary Pipeline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544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WPM over time, comprehension signals, and optimal reading zone calibration.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794760"/>
            <a:ext cx="4160520" cy="1188720"/>
          </a:xfrm>
          <a:prstGeom prst="rect">
            <a:avLst/>
          </a:prstGeom>
          <a:solidFill>
            <a:srgbClr val="243B55"/>
          </a:solidFill>
          <a:ln w="1016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94760"/>
            <a:ext cx="64008" cy="1188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Extraction Engine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46320" y="4251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pdf.js + PPTX Parser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4544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slide content, speaker notes, and visuals — maps speech delivery per slide.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Growth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Community-led, content-powered, retention-first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828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640080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Organic / SEO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speak confidently" → 500K+ monthly searches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3749040" cy="640080"/>
          </a:xfrm>
          <a:prstGeom prst="rect">
            <a:avLst/>
          </a:prstGeom>
          <a:solidFill>
            <a:srgbClr val="243B55">
              <a:alpha val="92000"/>
            </a:srgbClr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Short-Form Video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TikTok/Reels: 30-second communication tips, before/after demos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0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3474720" cy="640080"/>
          </a:xfrm>
          <a:prstGeom prst="rect">
            <a:avLst/>
          </a:prstGeom>
          <a:solidFill>
            <a:srgbClr val="243B55">
              <a:alpha val="84000"/>
            </a:srgbClr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34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B2B / Teams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2990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license deals — L&amp;D departments &amp; bootcamps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0" y="2734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92424"/>
            <a:ext cx="3200400" cy="640080"/>
          </a:xfrm>
          <a:prstGeom prst="rect">
            <a:avLst/>
          </a:prstGeom>
          <a:solidFill>
            <a:srgbClr val="243B55">
              <a:alpha val="76000"/>
            </a:srgbClr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838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Edu Partnerships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7398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MBA programs, coaching institutes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0" y="3483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42232"/>
            <a:ext cx="2926080" cy="640080"/>
          </a:xfrm>
          <a:prstGeom prst="rect">
            <a:avLst/>
          </a:prstGeom>
          <a:solidFill>
            <a:srgbClr val="243B55">
              <a:alpha val="68000"/>
            </a:srgbClr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Referral Loop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489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WPM score → friend joins → both get premium week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0" y="4233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4297680" cy="374904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Growth Projection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0" y="1554480"/>
          <a:ext cx="4297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Habit-Forming Mechanics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behavioral science — designed to keep users coming back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2423160"/>
          </a:xfrm>
          <a:prstGeom prst="rect">
            <a:avLst/>
          </a:prstGeom>
          <a:solidFill>
            <a:srgbClr val="243B55"/>
          </a:solidFill>
          <a:ln w="1524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2024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push notification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optimal time + streak reminder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A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20240" cy="2423160"/>
          </a:xfrm>
          <a:prstGeom prst="rect">
            <a:avLst/>
          </a:prstGeom>
          <a:solidFill>
            <a:srgbClr val="243B55"/>
          </a:solidFill>
          <a:ln w="1524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188720"/>
            <a:ext cx="1920240" cy="54864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1460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daily challenge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friction entry point)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A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1920240" cy="2423160"/>
          </a:xfrm>
          <a:prstGeom prst="rect">
            <a:avLst/>
          </a:prstGeom>
          <a:solidFill>
            <a:srgbClr val="243B55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6344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gained · Streak extended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rank 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A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12280" y="1188720"/>
            <a:ext cx="1920240" cy="2423160"/>
          </a:xfrm>
          <a:prstGeom prst="rect">
            <a:avLst/>
          </a:prstGeom>
          <a:solidFill>
            <a:srgbClr val="243B55"/>
          </a:solidFill>
          <a:ln w="1524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188720"/>
            <a:ext cx="192024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12280" y="1965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saved · Analytics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richer over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00C2A8">
              <a:alpha val="10000"/>
            </a:srgbClr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0080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Day-7 retention (gamified apps)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8892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788920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formation threshold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937760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daily session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8660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086600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maintain 7-day streaks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revenue model — B2C + B2B + Enterprise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993392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1993392" cy="64008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1261872" cy="27432"/>
          </a:xfrm>
          <a:prstGeom prst="rect">
            <a:avLst/>
          </a:prstGeom>
          <a:solidFill>
            <a:srgbClr val="8DA4B8">
              <a:alpha val="50000"/>
            </a:srgbClr>
          </a:solidFill>
          <a:ln w="12700">
            <a:solidFill>
              <a:srgbClr val="8DA4B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sessions/month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26883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word packs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30449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Limited analytics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Ads supported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4279392"/>
            <a:ext cx="1783080" cy="256032"/>
          </a:xfrm>
          <a:prstGeom prst="rect">
            <a:avLst/>
          </a:prstGeom>
          <a:solidFill>
            <a:srgbClr val="8DA4B8">
              <a:alpha val="20000"/>
            </a:srgbClr>
          </a:solidFill>
          <a:ln w="12700">
            <a:solidFill>
              <a:srgbClr val="8DA4B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2793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Top-of-funnel acquisition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41448" y="1097280"/>
            <a:ext cx="1993392" cy="3520440"/>
          </a:xfrm>
          <a:prstGeom prst="rect">
            <a:avLst/>
          </a:prstGeom>
          <a:solidFill>
            <a:srgbClr val="243B55"/>
          </a:solidFill>
          <a:ln w="254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41448" y="1097280"/>
            <a:ext cx="1993392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48" y="1234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41448" y="166420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807208" y="2194560"/>
            <a:ext cx="1261872" cy="27432"/>
          </a:xfrm>
          <a:prstGeom prst="rect">
            <a:avLst/>
          </a:prstGeom>
          <a:solidFill>
            <a:srgbClr val="00C2A8">
              <a:alpha val="50000"/>
            </a:srgbClr>
          </a:solidFill>
          <a:ln w="12700">
            <a:solidFill>
              <a:srgbClr val="00C2A8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sessions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51176" y="26883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word packs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51176" y="30449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AI coaching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51176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Presentation mode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51176" y="375818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ads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51176" y="4279392"/>
            <a:ext cx="1783080" cy="256032"/>
          </a:xfrm>
          <a:prstGeom prst="rect">
            <a:avLst/>
          </a:prstGeom>
          <a:solidFill>
            <a:srgbClr val="00C2A8">
              <a:alpha val="20000"/>
            </a:srgbClr>
          </a:solidFill>
          <a:ln w="12700">
            <a:solidFill>
              <a:srgbClr val="00C2A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42793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driver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54296" y="1097280"/>
            <a:ext cx="1993392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296" y="1097280"/>
            <a:ext cx="1993392" cy="6400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1234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54296" y="166420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$6/user/mo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020056" y="2194560"/>
            <a:ext cx="1261872" cy="27432"/>
          </a:xfrm>
          <a:prstGeom prst="rect">
            <a:avLst/>
          </a:prstGeom>
          <a:solidFill>
            <a:srgbClr val="F7B731">
              <a:alpha val="50000"/>
            </a:srgbClr>
          </a:solidFill>
          <a:ln w="12700">
            <a:solidFill>
              <a:srgbClr val="F7B731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5–50 seats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64024" y="26883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dashboard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64024" y="30449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 leaderboards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64024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Progress reports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64024" y="375818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64024" y="4279392"/>
            <a:ext cx="1783080" cy="256032"/>
          </a:xfrm>
          <a:prstGeom prst="rect">
            <a:avLst/>
          </a:prstGeom>
          <a:solidFill>
            <a:srgbClr val="F7B731">
              <a:alpha val="20000"/>
            </a:srgbClr>
          </a:solidFill>
          <a:ln w="12700">
            <a:solidFill>
              <a:srgbClr val="F7B73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64024" y="42793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/ Startup teams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67144" y="1097280"/>
            <a:ext cx="1993392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67144" y="1097280"/>
            <a:ext cx="1993392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67144" y="123444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67144" y="166420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32904" y="2194560"/>
            <a:ext cx="1261872" cy="27432"/>
          </a:xfrm>
          <a:prstGeom prst="rect">
            <a:avLst/>
          </a:prstGeom>
          <a:solidFill>
            <a:srgbClr val="FF6B6B">
              <a:alpha val="5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76872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seats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76872" y="26883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SSO / SAML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76872" y="30449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word packs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76872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LMS integration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76872" y="375818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CSM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76872" y="4279392"/>
            <a:ext cx="1783080" cy="256032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76872" y="42793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/ L&amp;D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Additional: Branded Word Pack Licensing  ·  API Access (B2B)  ·  Certification Badges  ·  Coaching Marketplace (Y2)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in a white space no one else occupies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234440"/>
            <a:ext cx="3429000" cy="1737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1234440"/>
            <a:ext cx="3429000" cy="1737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971800"/>
            <a:ext cx="3429000" cy="173736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2971800"/>
            <a:ext cx="3429000" cy="1737360"/>
          </a:xfrm>
          <a:prstGeom prst="rect">
            <a:avLst/>
          </a:prstGeom>
          <a:solidFill>
            <a:srgbClr val="00C2A8">
              <a:alpha val="20000"/>
            </a:srgbClr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9418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AI Personalization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0600" y="9418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AI Personalization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23444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27632" y="1581912"/>
            <a:ext cx="219456" cy="219456"/>
          </a:xfrm>
          <a:prstGeom prst="ellipse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Toastmasters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10512" y="3136392"/>
            <a:ext cx="219456" cy="219456"/>
          </a:xfrm>
          <a:prstGeom prst="ellipse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73752" y="1673352"/>
            <a:ext cx="219456" cy="219456"/>
          </a:xfrm>
          <a:prstGeom prst="ellipse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Speeko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1399032"/>
            <a:ext cx="219456" cy="219456"/>
          </a:xfrm>
          <a:prstGeom prst="ellipse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93392" y="3959352"/>
            <a:ext cx="219456" cy="219456"/>
          </a:xfrm>
          <a:prstGeom prst="ellipse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67528" y="3721608"/>
            <a:ext cx="329184" cy="32918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0873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WordFlow AI 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1234440"/>
            <a:ext cx="457200" cy="34747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feature set  ·  Deep AI personalization  ·  Gamification loop  ·  Presentation rehearsal  ·  Affordable pricing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scalable costs — built to grow efficiently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463040"/>
                <a:gridCol w="1463040"/>
                <a:gridCol w="1463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DA4B8"/>
                          </a:solidFill>
                        </a:rPr>
                        <a:t>Cost 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0–1K Users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A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1K–10K Users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731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10K–100K Users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>
                        <a:alpha val="70000"/>
                      </a:srgbClr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</a:rPr>
                        <a:t>Supabase (DB + Auth + Storage)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</a:rPr>
                        <a:t>$25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7B731"/>
                          </a:solidFill>
                        </a:rPr>
                        <a:t>$599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~$2K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</a:rPr>
                        <a:t>Vercel (Frontend Hosting)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7B731"/>
                          </a:solidFill>
                        </a:rPr>
                        <a:t>$20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~$200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</a:rPr>
                        <a:t>AI / Speech API (Whisper/Deepgram)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7B731"/>
                          </a:solidFill>
                        </a:rPr>
                        <a:t>$300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~$2.5K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</a:rPr>
                        <a:t>LLM API (Claude/GPT-4 Feedback)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7B731"/>
                          </a:solidFill>
                        </a:rPr>
                        <a:t>$200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~$1.5K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</a:rPr>
                        <a:t>CDN / Cloudflare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7B731"/>
                          </a:solidFill>
                        </a:rPr>
                        <a:t>$20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~$100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</a:rPr>
                        <a:t>Monitoring / Analytics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C2A8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7B731"/>
                          </a:solidFill>
                        </a:rPr>
                        <a:t>$50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</a:rPr>
                        <a:t>~$200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MONTHLY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~$25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~$1,200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~$6.5K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5994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At $9.99/mo Pro plan: Break-even at ~650 paid users. Cost scales sublinearly due to Supabase's efficient pricing model.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to handle 10M+ users without a rewrite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66420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" y="12344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Serverless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" y="1673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Supabase Edge Functions auto-scale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6616" y="20208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server management overhead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6616" y="2368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Cold start &lt; 50ms globally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143000"/>
            <a:ext cx="2743200" cy="166420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00984" y="12344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CDN + Edge Delivery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00984" y="1673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Static assets via Vercel Edge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00984" y="20208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Audio/video via Cloudflare CDN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00984" y="2368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&lt; 100ms global latency target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1143000"/>
            <a:ext cx="2743200" cy="166420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5352" y="123444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Scaling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673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Supabase PostgreSQL with read replicas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45352" y="20208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Partitioned tables for analytics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5352" y="2368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Redis cache layer at 100K+ users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953512"/>
            <a:ext cx="2743200" cy="166420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" y="30449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Efficiency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" y="348386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Batch processing off-peak sessions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" y="383133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LLM caching for common feedback patterns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6616" y="417880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Local speech processing option (on-device)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953512"/>
            <a:ext cx="2743200" cy="166420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00984" y="30449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00984" y="348386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Event streaming via Supabase Realtime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00984" y="383133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Segment or PostHog for analytics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00984" y="417880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Migrate to ClickHouse at 1M+ users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17336" y="2953512"/>
            <a:ext cx="2743200" cy="166420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45352" y="30449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Multi-Tenancy &amp; Security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45352" y="348386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Row-level security in Supabase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45352" y="383133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SOC2 compliance roadmap (Y2)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45352" y="417880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GDPR-ready data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market leadership in 24 months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011680" cy="5669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Validate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2084832"/>
            <a:ext cx="2011680" cy="271576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Word Streaming Engine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Speech Analysis (MVP)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Feedback v1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Focus Mode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Gamification 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Web App (Next.js)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12848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14016" y="1097280"/>
            <a:ext cx="2011680" cy="56692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14016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14016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14016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14016" y="2084832"/>
            <a:ext cx="2011680" cy="2715768"/>
          </a:xfrm>
          <a:prstGeom prst="rect">
            <a:avLst/>
          </a:prstGeom>
          <a:solidFill>
            <a:srgbClr val="243B55"/>
          </a:solidFill>
          <a:ln w="6350">
            <a:solidFill>
              <a:srgbClr val="F7B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Presentation Rehearsal Mode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05456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Themed Word Packs (5 sets)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05456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Dashboard Analytics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05456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Daily Challenges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05456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Team Leaderboards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05456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B2B Teams Plan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25696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26864" y="1097280"/>
            <a:ext cx="2011680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26864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26864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Platform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26864" y="2084832"/>
            <a:ext cx="2011680" cy="2715768"/>
          </a:xfrm>
          <a:prstGeom prst="rect">
            <a:avLst/>
          </a:prstGeom>
          <a:solidFill>
            <a:srgbClr val="243B55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Mobile App (React Native)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18304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Advanced AI Coach v2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18304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Custom Word Pack Creator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18304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API for Partners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18304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LMS Integration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18304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Enterprise SSO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38544" y="1371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39712" y="1097280"/>
            <a:ext cx="2011680" cy="5669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39712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17–24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39712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39712" y="2084832"/>
            <a:ext cx="2011680" cy="2715768"/>
          </a:xfrm>
          <a:prstGeom prst="rect">
            <a:avLst/>
          </a:prstGeom>
          <a:solidFill>
            <a:srgbClr val="243B55"/>
          </a:solidFill>
          <a:ln w="6350">
            <a:solidFill>
              <a:srgbClr val="00C2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31152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Multi-language Support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31152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Coaching Marketplace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31152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Avatar Coach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31152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Certification Program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31152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Offline Mode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31152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Hardware Integration (?)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01168" y="4892040"/>
            <a:ext cx="8741664" cy="73152"/>
          </a:xfrm>
          <a:prstGeom prst="rect">
            <a:avLst/>
          </a:prstGeom>
          <a:solidFill>
            <a:srgbClr val="00C2A8">
              <a:alpha val="50000"/>
            </a:srgbClr>
          </a:solidFill>
          <a:ln w="12700">
            <a:solidFill>
              <a:srgbClr val="00C2A8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" y="4800600"/>
            <a:ext cx="8741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◄─────────────────────────────────  24-Month Journey  ─────────────────────────────────►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fast, expand deep, retain always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371600" cy="1115568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Launch Product Hunt &amp; Hacker News on Day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57800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Build in public: Twitter/X daily updates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83080" y="17647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Free tier drives organic word-of-mouth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57800" y="17647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Target early adopters: founders, sales reps, MBAs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859536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50592"/>
            <a:ext cx="1371600" cy="1115568"/>
          </a:xfrm>
          <a:prstGeom prst="rect">
            <a:avLst/>
          </a:prstGeom>
          <a:solidFill>
            <a:srgbClr val="F7B731">
              <a:alpha val="85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50592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SEO content: "how to stop saying um" → 50K searches/mo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57800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YouTube/TikTok: before/after speech transformations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Partner with interview prep &amp; coaching communities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57800" y="30266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LinkedIn ads targeting sales teams &amp; L&amp;D managers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8595360" cy="1115568"/>
          </a:xfrm>
          <a:prstGeom prst="rect">
            <a:avLst/>
          </a:prstGeom>
          <a:solidFill>
            <a:srgbClr val="243B5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712464"/>
            <a:ext cx="1371600" cy="1115568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12464"/>
            <a:ext cx="1371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38496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Daily streak + leaderboard keeps users engaged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57800" y="38496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Weekly AI report card emailed to users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83080" y="42885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Progress data creates switching cost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57800" y="42885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Community challenges &amp; shared leaderboards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1,000 users in 30 days  ·  10,000 in 90 days  ·  100,000 in Year 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identified the key risks — and built defenses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710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Enters 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307592"/>
            <a:ext cx="685800" cy="27432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3075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87952" y="1307592"/>
            <a:ext cx="685800" cy="274320"/>
          </a:xfrm>
          <a:prstGeom prst="rect">
            <a:avLst/>
          </a:prstGeom>
          <a:solidFill>
            <a:srgbClr val="8DA4B8">
              <a:alpha val="40000"/>
            </a:srgbClr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7952" y="13075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P:Medium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Focus on depth &amp; community; move faster; build proprietary training data moat.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859536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1A2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208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User Retention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2057400"/>
            <a:ext cx="685800" cy="274320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87952" y="2057400"/>
            <a:ext cx="685800" cy="274320"/>
          </a:xfrm>
          <a:prstGeom prst="rect">
            <a:avLst/>
          </a:prstGeom>
          <a:solidFill>
            <a:srgbClr val="8DA4B8">
              <a:alpha val="40000"/>
            </a:srgbClr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P:Medium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0" y="19842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Gamification + streak mechanics + daily reminders + weekly AI report card emails.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42616"/>
            <a:ext cx="859536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1A2F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70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Cost Spikes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807208"/>
            <a:ext cx="685800" cy="274320"/>
          </a:xfrm>
          <a:prstGeom prst="rect">
            <a:avLst/>
          </a:prstGeom>
          <a:solidFill>
            <a:srgbClr val="F7B731">
              <a:alpha val="8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807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87952" y="2807208"/>
            <a:ext cx="685800" cy="274320"/>
          </a:xfrm>
          <a:prstGeom prst="rect">
            <a:avLst/>
          </a:prstGeom>
          <a:solidFill>
            <a:srgbClr val="8DA4B8">
              <a:alpha val="40000"/>
            </a:srgbClr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2807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P:Low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0" y="27340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Multi-provider strategy; local on-device processing; usage-based throttling for free tier.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92424"/>
            <a:ext cx="859536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1A2F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20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Privacy Concerns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29000" y="3557016"/>
            <a:ext cx="685800" cy="274320"/>
          </a:xfrm>
          <a:prstGeom prst="rect">
            <a:avLst/>
          </a:prstGeom>
          <a:solidFill>
            <a:srgbClr val="F7B731">
              <a:alpha val="8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5570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87952" y="3557016"/>
            <a:ext cx="685800" cy="274320"/>
          </a:xfrm>
          <a:prstGeom prst="rect">
            <a:avLst/>
          </a:prstGeom>
          <a:solidFill>
            <a:srgbClr val="8DA4B8">
              <a:alpha val="40000"/>
            </a:srgbClr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7952" y="35570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P:Medium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0" y="348386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On-device processing option; clear data policy; no long-term audio storage; GDPR compliance.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142232"/>
            <a:ext cx="8595360" cy="658368"/>
          </a:xfrm>
          <a:prstGeom prst="rect">
            <a:avLst/>
          </a:prstGeom>
          <a:solidFill>
            <a:srgbClr val="243B55"/>
          </a:solidFill>
          <a:ln w="6350">
            <a:solidFill>
              <a:srgbClr val="1A2F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2702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Sales Cycle Too Long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29000" y="4306824"/>
            <a:ext cx="685800" cy="274320"/>
          </a:xfrm>
          <a:prstGeom prst="rect">
            <a:avLst/>
          </a:prstGeom>
          <a:solidFill>
            <a:srgbClr val="F7B731">
              <a:alpha val="8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3068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87952" y="4306824"/>
            <a:ext cx="685800" cy="274320"/>
          </a:xfrm>
          <a:prstGeom prst="rect">
            <a:avLst/>
          </a:prstGeom>
          <a:solidFill>
            <a:srgbClr val="8DA4B8">
              <a:alpha val="40000"/>
            </a:srgbClr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87952" y="43068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P:High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0" y="42336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Self-serve Teams plan reduces friction; bottom-up adoption → top-down budget approval.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Join us in building the future of communication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2286000"/>
          </a:xfrm>
          <a:prstGeom prst="rect">
            <a:avLst/>
          </a:prstGeom>
          <a:solidFill>
            <a:srgbClr val="243B55"/>
          </a:solidFill>
          <a:ln w="2540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23042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Cap: $3M  ·  SAFE / Convertible Note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0358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runway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97680" cy="2286000"/>
          </a:xfrm>
          <a:prstGeom prst="rect">
            <a:avLst/>
          </a:prstGeom>
          <a:solidFill>
            <a:srgbClr val="243B5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502920" cy="292608"/>
          </a:xfrm>
          <a:prstGeom prst="rect">
            <a:avLst/>
          </a:prstGeom>
          <a:solidFill>
            <a:srgbClr val="00C2A8">
              <a:alpha val="85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83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85232" y="1801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 (2 eng)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203704"/>
            <a:ext cx="502920" cy="292608"/>
          </a:xfrm>
          <a:prstGeom prst="rect">
            <a:avLst/>
          </a:prstGeom>
          <a:solidFill>
            <a:srgbClr val="F7B731">
              <a:alpha val="85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037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85232" y="2221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User Acquisition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624328"/>
            <a:ext cx="502920" cy="292608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243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85232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Infrastructure Costs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44952"/>
            <a:ext cx="502920" cy="292608"/>
          </a:xfrm>
          <a:prstGeom prst="rect">
            <a:avLst/>
          </a:prstGeom>
          <a:solidFill>
            <a:srgbClr val="8DA4B8">
              <a:alpha val="85000"/>
            </a:srgbClr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449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1993392" cy="1024128"/>
          </a:xfrm>
          <a:prstGeom prst="rect">
            <a:avLst/>
          </a:prstGeom>
          <a:solidFill>
            <a:srgbClr val="243B5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86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74320" y="43708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6360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paid 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50592" y="3794760"/>
            <a:ext cx="1993392" cy="1024128"/>
          </a:xfrm>
          <a:prstGeom prst="rect">
            <a:avLst/>
          </a:prstGeom>
          <a:solidFill>
            <a:srgbClr val="243B55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3886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450592" y="43708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ARR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50592" y="46360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 paid users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26864" y="3794760"/>
            <a:ext cx="1993392" cy="1024128"/>
          </a:xfrm>
          <a:prstGeom prst="rect">
            <a:avLst/>
          </a:prstGeom>
          <a:solidFill>
            <a:srgbClr val="243B55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886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$8M+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626864" y="43708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ARR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26864" y="46360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B2C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03136" y="3794760"/>
            <a:ext cx="1993392" cy="1024128"/>
          </a:xfrm>
          <a:prstGeom prst="rect">
            <a:avLst/>
          </a:prstGeom>
          <a:solidFill>
            <a:srgbClr val="243B55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8862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$50M+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03136" y="43708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Potential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3136" y="46360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C2A8">
              <a:alpha val="7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F7B731">
              <a:alpha val="6000"/>
            </a:srgbClr>
          </a:solidFill>
          <a:ln w="12700">
            <a:solidFill>
              <a:srgbClr val="F7B73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communicator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somewhere.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WordFlow AI is that starting point — for billions.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1828800" cy="45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44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wordflowai.com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3328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hello@wordflowai.com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7124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 @wordflowai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3474720" cy="1508760"/>
          </a:xfrm>
          <a:prstGeom prst="rect">
            <a:avLst/>
          </a:prstGeom>
          <a:solidFill>
            <a:srgbClr val="00C2A8">
              <a:alpha val="90000"/>
            </a:srgbClr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meeting 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703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calendly.com/wordflowai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WordFlow AI  ·  Seed Deck 2025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WordFlow AI — Investor Pitch Deck</dc:title>
  <dc:subject>PptxGenJS Presentation</dc:subject>
  <dc:creator>WordFlow AI</dc:creator>
  <cp:lastModifiedBy>WordFlow AI</cp:lastModifiedBy>
  <cp:revision>1</cp:revision>
  <dcterms:created xsi:type="dcterms:W3CDTF">2026-03-17T17:05:44Z</dcterms:created>
  <dcterms:modified xsi:type="dcterms:W3CDTF">2026-03-17T17:05:44Z</dcterms:modified>
</cp:coreProperties>
</file>